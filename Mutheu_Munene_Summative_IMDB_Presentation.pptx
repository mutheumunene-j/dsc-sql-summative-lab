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6" r:id="rId5"/>
    <p:sldId id="259" r:id="rId6"/>
    <p:sldId id="260" r:id="rId7"/>
    <p:sldId id="267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79" autoAdjust="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86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178047-C70A-4E40-BD93-BF6446140FF1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40EB77-7C59-46DC-8F42-BD45B11EC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198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8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3657600"/>
            <a:ext cx="10362895" cy="45720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ctr">
              <a:defRPr sz="5400" b="1">
                <a:solidFill>
                  <a:srgbClr val="FFFFFF"/>
                </a:solidFill>
              </a:defRPr>
            </a:pPr>
            <a:r>
              <a:rPr lang="en-US" dirty="0"/>
              <a:t>Understanding </a:t>
            </a:r>
            <a:r>
              <a:rPr dirty="0"/>
              <a:t>Movie Success:</a:t>
            </a:r>
            <a:br>
              <a:rPr dirty="0"/>
            </a:br>
            <a:r>
              <a:rPr dirty="0"/>
              <a:t>An Analysis of IMDB (2010-2019)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6289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ctr">
              <a:defRPr sz="2400">
                <a:solidFill>
                  <a:srgbClr val="FFB900"/>
                </a:solidFill>
              </a:defRPr>
            </a:pPr>
            <a:r>
              <a:rPr dirty="0"/>
              <a:t>Strategic </a:t>
            </a:r>
            <a:r>
              <a:rPr lang="en-US" dirty="0"/>
              <a:t>deep-dive</a:t>
            </a:r>
            <a:r>
              <a:rPr dirty="0"/>
              <a:t> into </a:t>
            </a:r>
            <a:r>
              <a:rPr lang="en-US" dirty="0"/>
              <a:t>genres, production</a:t>
            </a:r>
            <a:r>
              <a:rPr dirty="0"/>
              <a:t> volume, personnel, and runtime.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CFCAFC-FD9D-4C77-A0B0-C1E676773CF9}"/>
              </a:ext>
            </a:extLst>
          </p:cNvPr>
          <p:cNvSpPr txBox="1"/>
          <p:nvPr/>
        </p:nvSpPr>
        <p:spPr>
          <a:xfrm>
            <a:off x="9070428" y="6201103"/>
            <a:ext cx="38464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MUTHEU MUNENE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5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5557" y="1448799"/>
            <a:ext cx="11277295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800" b="1">
                <a:solidFill>
                  <a:srgbClr val="005B72"/>
                </a:solidFill>
              </a:defRPr>
            </a:pPr>
            <a:r>
              <a:rPr sz="3600" dirty="0"/>
              <a:t>Key</a:t>
            </a:r>
            <a:r>
              <a:rPr lang="en-US" sz="3600" dirty="0"/>
              <a:t> Market</a:t>
            </a:r>
            <a:r>
              <a:rPr sz="3600" dirty="0"/>
              <a:t> Findings:</a:t>
            </a:r>
            <a:endParaRPr lang="en-US" sz="3600" dirty="0"/>
          </a:p>
          <a:p>
            <a:pPr>
              <a:defRPr sz="2800" b="1">
                <a:solidFill>
                  <a:srgbClr val="005B72"/>
                </a:solidFill>
              </a:defRPr>
            </a:pPr>
            <a:endParaRPr sz="3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Market Saturation:</a:t>
            </a:r>
            <a:r>
              <a:rPr lang="en-US" sz="2400" dirty="0"/>
              <a:t> Aggressive production volume has increased competition for audience attention.</a:t>
            </a:r>
          </a:p>
          <a:p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 Leading Genre:</a:t>
            </a:r>
            <a:r>
              <a:rPr lang="en-US" sz="2400" dirty="0"/>
              <a:t> Documentary hybrids consistently dominate audience satisfaction.</a:t>
            </a:r>
          </a:p>
          <a:p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Personnel Impact:</a:t>
            </a:r>
            <a:r>
              <a:rPr lang="en-US" sz="2400" dirty="0"/>
              <a:t> Securing top-tier directors is a highly predictable indicator of a movie's success.</a:t>
            </a:r>
          </a:p>
          <a:p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Runtime Influence: </a:t>
            </a:r>
            <a:r>
              <a:rPr lang="en-US" sz="2400" dirty="0"/>
              <a:t>Extreme length doesn't guarantee high ratings, audiences also undeniably dislike  short films.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5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6479018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4000" b="1">
                <a:solidFill>
                  <a:srgbClr val="FFFFFF"/>
                </a:solidFill>
              </a:defRPr>
            </a:pPr>
            <a:r>
              <a:rPr lang="en-US" dirty="0"/>
              <a:t>Ensuring Trustworthy Insights</a:t>
            </a:r>
          </a:p>
          <a:p>
            <a:pPr>
              <a:defRPr sz="4000" b="1"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307368" y="1520309"/>
            <a:ext cx="11576957" cy="5109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Data Limit:</a:t>
            </a:r>
            <a:r>
              <a:rPr lang="en-US" sz="2800" dirty="0"/>
              <a:t> Exclusively analyzed 2010–2019 releases to ensure data is modern and relevant.</a:t>
            </a:r>
          </a:p>
          <a:p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Null Handling:</a:t>
            </a:r>
            <a:r>
              <a:rPr lang="en-US" sz="2800" dirty="0"/>
              <a:t> Excluded incomplete records (e.g., missing genres or runtimes) to prevent calculation errors.</a:t>
            </a:r>
          </a:p>
          <a:p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Audience Baseline:</a:t>
            </a:r>
            <a:r>
              <a:rPr lang="en-US" sz="2800" dirty="0"/>
              <a:t> Required a minimum of 100 verified user reviews per film to prevent obscure outliers from skewing averages.</a:t>
            </a:r>
          </a:p>
          <a:p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Market Volume:</a:t>
            </a:r>
            <a:r>
              <a:rPr lang="en-US" sz="2800" dirty="0"/>
              <a:t> Required a minimum of 100 films produced per genre category to ensure market-proven consistency.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5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4332276" cy="16004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4000" b="1">
                <a:solidFill>
                  <a:srgbClr val="FFFFFF"/>
                </a:solidFill>
              </a:defRPr>
            </a:pPr>
            <a:r>
              <a:rPr lang="en-US" b="1" dirty="0"/>
              <a:t>Genre Performance</a:t>
            </a:r>
          </a:p>
          <a:p>
            <a:pPr>
              <a:defRPr sz="4000" b="1"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337338" y="1417320"/>
            <a:ext cx="5029200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800" b="1">
                <a:solidFill>
                  <a:srgbClr val="005B72"/>
                </a:solidFill>
              </a:defRPr>
            </a:pPr>
            <a:r>
              <a:rPr lang="en-US" sz="3600" dirty="0"/>
              <a:t>Documentaries Lead Market Reception</a:t>
            </a:r>
            <a:r>
              <a:rPr sz="36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Hybrid formats (Documentary + Music/Biography) yield the highest average ratings (&gt; 7.0/10).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Traditional narrative genres (like pure Drama, Action, or Comedy) failed to break into the top 10.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Takeaway:</a:t>
            </a:r>
            <a:r>
              <a:rPr lang="en-US" sz="2400" dirty="0"/>
              <a:t> Pure fiction requires significantly more effort to achieve the baseline audience satisfaction that documentaries naturally command.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301D17-B5B9-4DCD-8546-F0F24DD1CB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6538" y="1625600"/>
            <a:ext cx="6638880" cy="4962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173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5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4279120" cy="16004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4000" b="1">
                <a:solidFill>
                  <a:srgbClr val="FFFFFF"/>
                </a:solidFill>
              </a:defRPr>
            </a:pPr>
            <a:r>
              <a:rPr lang="en-US" b="1" dirty="0"/>
              <a:t>Production Volume</a:t>
            </a:r>
          </a:p>
          <a:p>
            <a:pPr>
              <a:defRPr sz="4000" b="1"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310760" y="1397198"/>
            <a:ext cx="50292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800" b="1">
                <a:solidFill>
                  <a:srgbClr val="005B72"/>
                </a:solidFill>
              </a:defRPr>
            </a:pPr>
            <a:r>
              <a:rPr lang="en-US" sz="3200" dirty="0"/>
              <a:t>The Industry is Getting Crowded</a:t>
            </a:r>
            <a:r>
              <a:rPr sz="32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Movie production grew aggressively from 2010 to 2019.</a:t>
            </a:r>
          </a:p>
          <a:p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Takeaway:</a:t>
            </a:r>
            <a:r>
              <a:rPr lang="en-US" sz="2800" dirty="0"/>
              <a:t> Studios can no longer rely on volume to generate revenue; individual film quality is required to cut through the noise.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5057F9-F89E-42DF-BB0A-5BD0B92E10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9960" y="1829038"/>
            <a:ext cx="6659519" cy="43694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5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4639475" cy="16004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4000" b="1">
                <a:solidFill>
                  <a:srgbClr val="FFFFFF"/>
                </a:solidFill>
              </a:defRPr>
            </a:pPr>
            <a:r>
              <a:rPr lang="en-US" b="1" dirty="0"/>
              <a:t>The Personnel Factor</a:t>
            </a:r>
          </a:p>
          <a:p>
            <a:pPr>
              <a:defRPr sz="4000" b="1"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262337" y="1417320"/>
            <a:ext cx="5029200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800" b="1">
                <a:solidFill>
                  <a:srgbClr val="005B72"/>
                </a:solidFill>
              </a:defRPr>
            </a:pPr>
            <a:r>
              <a:rPr lang="en-US" sz="3200" dirty="0"/>
              <a:t>Top Directors Mitigate Risk</a:t>
            </a:r>
            <a:r>
              <a:rPr sz="32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Analyzed directors with a proven track record (5+ films in the decade).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The top 10 directors consistently maintain average ratings well above an 8.0/10.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Takeaway:</a:t>
            </a:r>
            <a:r>
              <a:rPr lang="en-US" sz="2800" dirty="0"/>
              <a:t> A proven director acts as a safety net for audience reception, heavily reducing the risk of a flop.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585337-DD2E-4A32-B0A0-CAF71A2CA0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8747" y="1582058"/>
            <a:ext cx="6460600" cy="50059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5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3871829" cy="22159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4000" b="1">
                <a:solidFill>
                  <a:srgbClr val="FFFFFF"/>
                </a:solidFill>
              </a:defRPr>
            </a:pPr>
            <a:r>
              <a:rPr lang="en-US" b="1" dirty="0"/>
              <a:t>Content Duration</a:t>
            </a:r>
          </a:p>
          <a:p>
            <a:pPr>
              <a:defRPr sz="4000" b="1">
                <a:solidFill>
                  <a:srgbClr val="FFFFFF"/>
                </a:solidFill>
              </a:defRPr>
            </a:pPr>
            <a:endParaRPr lang="en-US" b="1" dirty="0"/>
          </a:p>
          <a:p>
            <a:pPr>
              <a:defRPr sz="4000" b="1"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58939" y="1283522"/>
            <a:ext cx="50292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800" b="1">
                <a:solidFill>
                  <a:srgbClr val="005B72"/>
                </a:solidFill>
              </a:defRPr>
            </a:pPr>
            <a:r>
              <a:rPr lang="en-US" sz="2800" dirty="0"/>
              <a:t>Does a Longer Movie Mean a Better Rating?</a:t>
            </a:r>
            <a:r>
              <a:rPr sz="32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Standard feature films (90-120 minutes) form a dense cluster of average ratings (5.0 - 7.0).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As films push past 140 minutes, the risk of severe poor ratings (below 4.0) drops near zero.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Takeaway:</a:t>
            </a:r>
            <a:r>
              <a:rPr lang="en-US" sz="2400" dirty="0"/>
              <a:t> Audiences are willing to sit through longer films if the story requires it, but artificially padding runtime does not guarantee a 9/10 score.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28B0D7-2FFA-45DB-BA3B-3EA80046C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5675" y="1422400"/>
            <a:ext cx="6777386" cy="497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667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5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FFFFFF"/>
                </a:solidFill>
              </a:defRPr>
            </a:pPr>
            <a:r>
              <a:t>Strategic Business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199" y="1397198"/>
            <a:ext cx="11277295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800" b="1">
                <a:solidFill>
                  <a:srgbClr val="005B72"/>
                </a:solidFill>
              </a:defRPr>
            </a:pPr>
            <a:r>
              <a:rPr sz="3600" dirty="0"/>
              <a:t>Formulating Our Next Steps:</a:t>
            </a:r>
          </a:p>
          <a:p>
            <a:r>
              <a:rPr sz="3200" dirty="0"/>
              <a:t>• </a:t>
            </a:r>
            <a:r>
              <a:rPr sz="3200" b="1" dirty="0"/>
              <a:t>Core Question</a:t>
            </a:r>
            <a:r>
              <a:rPr sz="3200" dirty="0"/>
              <a:t>: </a:t>
            </a:r>
            <a:endParaRPr lang="en-US" sz="3200" dirty="0"/>
          </a:p>
          <a:p>
            <a:r>
              <a:rPr lang="en-US" sz="3200" dirty="0"/>
              <a:t>Given that highly-rated documentary hybrids naturally outperform narrative features in audience reception, do they yield a proportionately higher financial Return on Investment (ROI)?</a:t>
            </a:r>
          </a:p>
          <a:p>
            <a:endParaRPr lang="en-US" sz="3200" dirty="0"/>
          </a:p>
          <a:p>
            <a:pPr>
              <a:defRPr sz="2400">
                <a:solidFill>
                  <a:srgbClr val="282828"/>
                </a:solidFill>
              </a:defRPr>
            </a:pPr>
            <a:r>
              <a:rPr sz="3200" dirty="0"/>
              <a:t>• </a:t>
            </a:r>
            <a:r>
              <a:rPr sz="3200" b="1" dirty="0"/>
              <a:t>Why it matters: </a:t>
            </a:r>
            <a:endParaRPr lang="en-US" sz="3200" b="1" dirty="0"/>
          </a:p>
          <a:p>
            <a:pPr>
              <a:defRPr sz="2400">
                <a:solidFill>
                  <a:srgbClr val="282828"/>
                </a:solidFill>
              </a:defRPr>
            </a:pPr>
            <a:r>
              <a:rPr lang="en-US" sz="3200" dirty="0"/>
              <a:t>This will guide whether the studio should fund multiple low-cost documentaries versus one high-budget narrative feature.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5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12431" cy="16004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4000" b="1">
                <a:solidFill>
                  <a:srgbClr val="FFFFFF"/>
                </a:solidFill>
              </a:defRPr>
            </a:pPr>
            <a:r>
              <a:rPr lang="en-US" b="1" dirty="0"/>
              <a:t>Strategic Recommendation &amp; Next Steps</a:t>
            </a:r>
          </a:p>
          <a:p>
            <a:pPr>
              <a:defRPr sz="4000" b="1"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254000" y="1520785"/>
            <a:ext cx="11277295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800" b="1">
                <a:solidFill>
                  <a:srgbClr val="005B72"/>
                </a:solidFill>
              </a:defRPr>
            </a:pPr>
            <a:r>
              <a:rPr lang="en-US" sz="3600" dirty="0"/>
              <a:t>Moving Forward: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Audience ratings are measurably influenced by measurable metrics like personnel history and genre formats.</a:t>
            </a:r>
          </a:p>
          <a:p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Next Step:</a:t>
            </a:r>
            <a:r>
              <a:rPr lang="en-US" sz="3200" dirty="0"/>
              <a:t> Integrate box office financial data (production budgets vs. global revenue) into our SQL database.</a:t>
            </a:r>
          </a:p>
          <a:p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Goal:</a:t>
            </a:r>
            <a:r>
              <a:rPr lang="en-US" sz="3200" dirty="0"/>
              <a:t> Validate the financial ROI of documentaries to guide future portfolio allocation away from saturated narrative markets.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5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2507418" cy="9848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4000" b="1">
                <a:solidFill>
                  <a:srgbClr val="FFFFFF"/>
                </a:solidFill>
              </a:defRPr>
            </a:pPr>
            <a:r>
              <a:rPr dirty="0"/>
              <a:t>Conclus</a:t>
            </a:r>
            <a:r>
              <a:rPr lang="en-US" dirty="0"/>
              <a:t>ion</a:t>
            </a:r>
            <a:endParaRPr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96761E-3517-4BFD-A1FC-898A955C75F1}"/>
              </a:ext>
            </a:extLst>
          </p:cNvPr>
          <p:cNvSpPr/>
          <p:nvPr/>
        </p:nvSpPr>
        <p:spPr>
          <a:xfrm>
            <a:off x="1786759" y="2967335"/>
            <a:ext cx="7746124" cy="199354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endParaRPr lang="en-US" sz="54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7FC1D50-C7BA-4503-A1FD-826332EAB82F}"/>
              </a:ext>
            </a:extLst>
          </p:cNvPr>
          <p:cNvSpPr/>
          <p:nvPr/>
        </p:nvSpPr>
        <p:spPr>
          <a:xfrm>
            <a:off x="2964618" y="3164400"/>
            <a:ext cx="6442840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8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THANK YOU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8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3657600"/>
            <a:ext cx="10362895" cy="45720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ctr">
              <a:defRPr sz="5400" b="1">
                <a:solidFill>
                  <a:srgbClr val="FFFFFF"/>
                </a:solidFill>
              </a:defRPr>
            </a:pPr>
            <a:r>
              <a:t>Q &amp;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ctr">
              <a:defRPr sz="2400">
                <a:solidFill>
                  <a:srgbClr val="FFB900"/>
                </a:solidFill>
              </a:defRPr>
            </a:pPr>
            <a:r>
              <a:t>Open for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543</Words>
  <Application>Microsoft Office PowerPoint</Application>
  <PresentationFormat>Widescreen</PresentationFormat>
  <Paragraphs>80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mutheumunene.j@gmail.com</cp:lastModifiedBy>
  <cp:revision>6</cp:revision>
  <dcterms:created xsi:type="dcterms:W3CDTF">2013-01-27T09:14:16Z</dcterms:created>
  <dcterms:modified xsi:type="dcterms:W3CDTF">2026-10-25T18:32:51Z</dcterms:modified>
  <cp:category/>
</cp:coreProperties>
</file>